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ublic Sans Medium" charset="1" panose="00000000000000000000"/>
      <p:regular r:id="rId19"/>
    </p:embeddedFont>
    <p:embeddedFont>
      <p:font typeface="Arimo" charset="1" panose="020B0604020202020204"/>
      <p:regular r:id="rId20"/>
    </p:embeddedFont>
    <p:embeddedFont>
      <p:font typeface="Public Sans" charset="1" panose="00000000000000000000"/>
      <p:regular r:id="rId21"/>
    </p:embeddedFont>
    <p:embeddedFont>
      <p:font typeface="Public Sans 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Título del trabajo: Diseño e implementación de un Data Warehouse para Mueblería Albarrán.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Fase 1 establece una base dimensional validada para apoyar el análisis comercial de Mueblería Albarrán.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15315" y="9838487"/>
            <a:ext cx="1607763" cy="384048"/>
            <a:chOff x="0" y="0"/>
            <a:chExt cx="2143684" cy="512064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3633" cy="512064"/>
            </a:xfrm>
            <a:custGeom>
              <a:avLst/>
              <a:gdLst/>
              <a:ahLst/>
              <a:cxnLst/>
              <a:rect r="r" b="b" t="t" l="l"/>
              <a:pathLst>
                <a:path h="512064" w="2143633">
                  <a:moveTo>
                    <a:pt x="0" y="0"/>
                  </a:moveTo>
                  <a:lnTo>
                    <a:pt x="2143633" y="0"/>
                  </a:lnTo>
                  <a:lnTo>
                    <a:pt x="2143633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0081" y="785336"/>
            <a:ext cx="11391614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b="true" sz="1800" spc="144">
                <a:solidFill>
                  <a:srgbClr val="392C2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UTFSM · CERTAMEN 2 · SECCIÓN 300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00081" y="1466250"/>
            <a:ext cx="2647731" cy="104623"/>
            <a:chOff x="0" y="0"/>
            <a:chExt cx="3530308" cy="1394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30346" cy="139446"/>
            </a:xfrm>
            <a:custGeom>
              <a:avLst/>
              <a:gdLst/>
              <a:ahLst/>
              <a:cxnLst/>
              <a:rect r="r" b="b" t="t" l="l"/>
              <a:pathLst>
                <a:path h="139446" w="3530346">
                  <a:moveTo>
                    <a:pt x="0" y="69723"/>
                  </a:moveTo>
                  <a:cubicBezTo>
                    <a:pt x="0" y="31242"/>
                    <a:pt x="31242" y="0"/>
                    <a:pt x="69723" y="0"/>
                  </a:cubicBezTo>
                  <a:lnTo>
                    <a:pt x="3460623" y="0"/>
                  </a:lnTo>
                  <a:cubicBezTo>
                    <a:pt x="3499104" y="0"/>
                    <a:pt x="3530346" y="31242"/>
                    <a:pt x="3530346" y="69723"/>
                  </a:cubicBezTo>
                  <a:cubicBezTo>
                    <a:pt x="3530346" y="108204"/>
                    <a:pt x="3499104" y="139446"/>
                    <a:pt x="3460623" y="139446"/>
                  </a:cubicBezTo>
                  <a:lnTo>
                    <a:pt x="69723" y="139446"/>
                  </a:lnTo>
                  <a:cubicBezTo>
                    <a:pt x="31242" y="139446"/>
                    <a:pt x="0" y="108331"/>
                    <a:pt x="0" y="69723"/>
                  </a:cubicBezTo>
                  <a:close/>
                </a:path>
              </a:pathLst>
            </a:custGeom>
            <a:solidFill>
              <a:srgbClr val="B28B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00081" y="2252158"/>
            <a:ext cx="10591533" cy="1526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6"/>
              </a:lnSpc>
            </a:pPr>
            <a:r>
              <a:rPr lang="en-US" sz="5400" spc="-54">
                <a:solidFill>
                  <a:srgbClr val="392C23"/>
                </a:solidFill>
                <a:latin typeface="Arimo"/>
                <a:ea typeface="Arimo"/>
                <a:cs typeface="Arimo"/>
                <a:sym typeface="Arimo"/>
              </a:rPr>
              <a:t>Inteligencia de Negocios</a:t>
            </a:r>
          </a:p>
          <a:p>
            <a:pPr algn="l">
              <a:lnSpc>
                <a:spcPts val="6026"/>
              </a:lnSpc>
            </a:pPr>
            <a:r>
              <a:rPr lang="en-US" sz="5400" spc="-54">
                <a:solidFill>
                  <a:srgbClr val="392C23"/>
                </a:solidFill>
                <a:latin typeface="Arimo"/>
                <a:ea typeface="Arimo"/>
                <a:cs typeface="Arimo"/>
                <a:sym typeface="Arimo"/>
              </a:rPr>
              <a:t>Mueblería Albarrán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0081" y="3978478"/>
            <a:ext cx="1059153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000" spc="-3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Implementación de un Data Warehouse mediante metodología Kimball y SSIS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0081" y="7685780"/>
            <a:ext cx="10591533" cy="86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Luis Sarzuri · Matías Fernández Vargas</a:t>
            </a:r>
          </a:p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Matías Aguilera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0081" y="8811225"/>
            <a:ext cx="10591533" cy="68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Profesor: Hernán Saavedra González</a:t>
            </a:r>
          </a:p>
          <a:p>
            <a:pPr algn="l">
              <a:lnSpc>
                <a:spcPts val="2520"/>
              </a:lnSpc>
            </a:pPr>
            <a:r>
              <a:rPr lang="en-US" sz="18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Universidad Técnica Federico Santa María (UTFSM)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191695" y="0"/>
            <a:ext cx="6095848" cy="10287000"/>
            <a:chOff x="0" y="0"/>
            <a:chExt cx="8127797" cy="137160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81277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127746">
                  <a:moveTo>
                    <a:pt x="0" y="0"/>
                  </a:moveTo>
                  <a:lnTo>
                    <a:pt x="8127746" y="0"/>
                  </a:lnTo>
                  <a:lnTo>
                    <a:pt x="81277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0" t="0" r="-4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381" y="899636"/>
            <a:ext cx="17373162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b="true" sz="1800" spc="144">
                <a:solidFill>
                  <a:srgbClr val="392C2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PROPÓSITO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381" y="1390517"/>
            <a:ext cx="16458790" cy="6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spc="-48">
                <a:solidFill>
                  <a:srgbClr val="392C23"/>
                </a:solidFill>
                <a:latin typeface="Arimo"/>
                <a:ea typeface="Arimo"/>
                <a:cs typeface="Arimo"/>
                <a:sym typeface="Arimo"/>
              </a:rPr>
              <a:t>Ordenar los datos de ventas para analizar el negocio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381" y="2274418"/>
            <a:ext cx="16458790" cy="101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Información transaccional de ventas, clientes, empleados, productos y sucursales que debe organizarse para facilitar el análisis comercial.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381" y="5058070"/>
            <a:ext cx="5181467" cy="2072583"/>
            <a:chOff x="0" y="0"/>
            <a:chExt cx="6908622" cy="27634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08673" cy="2763393"/>
            </a:xfrm>
            <a:custGeom>
              <a:avLst/>
              <a:gdLst/>
              <a:ahLst/>
              <a:cxnLst/>
              <a:rect r="r" b="b" t="t" l="l"/>
              <a:pathLst>
                <a:path h="2763393" w="6908673">
                  <a:moveTo>
                    <a:pt x="0" y="0"/>
                  </a:moveTo>
                  <a:lnTo>
                    <a:pt x="6908673" y="0"/>
                  </a:lnTo>
                  <a:lnTo>
                    <a:pt x="6908673" y="2763393"/>
                  </a:lnTo>
                  <a:lnTo>
                    <a:pt x="0" y="27633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33471" y="5430022"/>
            <a:ext cx="4343295" cy="129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sz="3600" spc="-3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Datos</a:t>
            </a:r>
          </a:p>
          <a:p>
            <a:pPr algn="l">
              <a:lnSpc>
                <a:spcPts val="4881"/>
              </a:lnSpc>
            </a:pPr>
            <a:r>
              <a:rPr lang="en-US" sz="3600" spc="-3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transaccionales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53038" y="5058070"/>
            <a:ext cx="5181467" cy="2072583"/>
            <a:chOff x="0" y="0"/>
            <a:chExt cx="6908622" cy="27634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08673" cy="2763393"/>
            </a:xfrm>
            <a:custGeom>
              <a:avLst/>
              <a:gdLst/>
              <a:ahLst/>
              <a:cxnLst/>
              <a:rect r="r" b="b" t="t" l="l"/>
              <a:pathLst>
                <a:path h="2763393" w="6908673">
                  <a:moveTo>
                    <a:pt x="0" y="0"/>
                  </a:moveTo>
                  <a:lnTo>
                    <a:pt x="6908673" y="0"/>
                  </a:lnTo>
                  <a:lnTo>
                    <a:pt x="6908673" y="2763393"/>
                  </a:lnTo>
                  <a:lnTo>
                    <a:pt x="0" y="2763393"/>
                  </a:lnTo>
                  <a:close/>
                </a:path>
              </a:pathLst>
            </a:custGeom>
            <a:solidFill>
              <a:srgbClr val="E7D8A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972129" y="5430022"/>
            <a:ext cx="4343295" cy="129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sz="3600" spc="-3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→ Data</a:t>
            </a:r>
          </a:p>
          <a:p>
            <a:pPr algn="l">
              <a:lnSpc>
                <a:spcPts val="4881"/>
              </a:lnSpc>
            </a:pPr>
            <a:r>
              <a:rPr lang="en-US" sz="3600" spc="-3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Warehouse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191695" y="5058070"/>
            <a:ext cx="5181467" cy="2072583"/>
            <a:chOff x="0" y="0"/>
            <a:chExt cx="6908622" cy="27634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08673" cy="2763393"/>
            </a:xfrm>
            <a:custGeom>
              <a:avLst/>
              <a:gdLst/>
              <a:ahLst/>
              <a:cxnLst/>
              <a:rect r="r" b="b" t="t" l="l"/>
              <a:pathLst>
                <a:path h="2763393" w="6908673">
                  <a:moveTo>
                    <a:pt x="0" y="0"/>
                  </a:moveTo>
                  <a:lnTo>
                    <a:pt x="6908673" y="0"/>
                  </a:lnTo>
                  <a:lnTo>
                    <a:pt x="6908673" y="2763393"/>
                  </a:lnTo>
                  <a:lnTo>
                    <a:pt x="0" y="27633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610786" y="5430022"/>
            <a:ext cx="4343295" cy="129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sz="3600" spc="-3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→ Análisis</a:t>
            </a:r>
          </a:p>
          <a:p>
            <a:pPr algn="l">
              <a:lnSpc>
                <a:spcPts val="4881"/>
              </a:lnSpc>
            </a:pPr>
            <a:r>
              <a:rPr lang="en-US" sz="3600" spc="-3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comercial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381" y="8830894"/>
            <a:ext cx="17373162" cy="54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Diseñar e implementar un Data Warehouse dimensional para analizar ventas desde distintas perspectivas.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717995" y="9677848"/>
            <a:ext cx="569547" cy="303762"/>
            <a:chOff x="0" y="0"/>
            <a:chExt cx="759396" cy="4050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9402" cy="405010"/>
            </a:xfrm>
            <a:custGeom>
              <a:avLst/>
              <a:gdLst/>
              <a:ahLst/>
              <a:cxnLst/>
              <a:rect r="r" b="b" t="t" l="l"/>
              <a:pathLst>
                <a:path h="405010" w="759402">
                  <a:moveTo>
                    <a:pt x="0" y="0"/>
                  </a:moveTo>
                  <a:lnTo>
                    <a:pt x="759402" y="0"/>
                  </a:lnTo>
                  <a:lnTo>
                    <a:pt x="759402" y="405010"/>
                  </a:lnTo>
                  <a:lnTo>
                    <a:pt x="0" y="405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9" t="0" r="-18428" b="-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59396" cy="452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5"/>
                </a:lnSpc>
              </a:pPr>
              <a:r>
                <a:rPr lang="en-US" sz="1650" spc="66">
                  <a:solidFill>
                    <a:srgbClr val="53627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381" y="899636"/>
            <a:ext cx="17373162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b="true" sz="1800" spc="144">
                <a:solidFill>
                  <a:srgbClr val="392C2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CALIDAD DEL ORIGEN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381" y="1390517"/>
            <a:ext cx="16458790" cy="134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spc="-48">
                <a:solidFill>
                  <a:srgbClr val="392C23"/>
                </a:solidFill>
                <a:latin typeface="Arimo"/>
                <a:ea typeface="Arimo"/>
                <a:cs typeface="Arimo"/>
                <a:sym typeface="Arimo"/>
              </a:rPr>
              <a:t>El Data Profiling de Albarran no mostró inconsistencias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381" y="2957093"/>
            <a:ext cx="17373162" cy="54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Se revisaron nulos, duplicados, relaciones huérfanas, fechas y descuentos.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381" y="4613377"/>
            <a:ext cx="3139307" cy="2210248"/>
            <a:chOff x="0" y="0"/>
            <a:chExt cx="4185742" cy="29469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85793" cy="2947035"/>
            </a:xfrm>
            <a:custGeom>
              <a:avLst/>
              <a:gdLst/>
              <a:ahLst/>
              <a:cxnLst/>
              <a:rect r="r" b="b" t="t" l="l"/>
              <a:pathLst>
                <a:path h="2947035" w="4185793">
                  <a:moveTo>
                    <a:pt x="0" y="0"/>
                  </a:moveTo>
                  <a:lnTo>
                    <a:pt x="4185793" y="0"/>
                  </a:lnTo>
                  <a:lnTo>
                    <a:pt x="4185793" y="2947035"/>
                  </a:lnTo>
                  <a:lnTo>
                    <a:pt x="0" y="29470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19171" y="5096770"/>
            <a:ext cx="252971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2"/>
              </a:lnSpc>
            </a:pPr>
            <a:r>
              <a:rPr lang="en-US" sz="6900" spc="-1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171" y="6051652"/>
            <a:ext cx="2834507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Clientes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244178" y="4613377"/>
            <a:ext cx="3139307" cy="2210248"/>
            <a:chOff x="0" y="0"/>
            <a:chExt cx="4185742" cy="29469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85793" cy="2947035"/>
            </a:xfrm>
            <a:custGeom>
              <a:avLst/>
              <a:gdLst/>
              <a:ahLst/>
              <a:cxnLst/>
              <a:rect r="r" b="b" t="t" l="l"/>
              <a:pathLst>
                <a:path h="2947035" w="4185793">
                  <a:moveTo>
                    <a:pt x="0" y="0"/>
                  </a:moveTo>
                  <a:lnTo>
                    <a:pt x="4185793" y="0"/>
                  </a:lnTo>
                  <a:lnTo>
                    <a:pt x="4185793" y="2947035"/>
                  </a:lnTo>
                  <a:lnTo>
                    <a:pt x="0" y="29470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548969" y="5096770"/>
            <a:ext cx="252971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2"/>
              </a:lnSpc>
            </a:pPr>
            <a:r>
              <a:rPr lang="en-US" sz="6900" spc="-1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48969" y="6051652"/>
            <a:ext cx="2834507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Empleados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73975" y="4613377"/>
            <a:ext cx="3139450" cy="2210248"/>
            <a:chOff x="0" y="0"/>
            <a:chExt cx="4185933" cy="2946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85920" cy="2947035"/>
            </a:xfrm>
            <a:custGeom>
              <a:avLst/>
              <a:gdLst/>
              <a:ahLst/>
              <a:cxnLst/>
              <a:rect r="r" b="b" t="t" l="l"/>
              <a:pathLst>
                <a:path h="2947035" w="4185920">
                  <a:moveTo>
                    <a:pt x="0" y="0"/>
                  </a:moveTo>
                  <a:lnTo>
                    <a:pt x="4185920" y="0"/>
                  </a:lnTo>
                  <a:lnTo>
                    <a:pt x="4185920" y="2947035"/>
                  </a:lnTo>
                  <a:lnTo>
                    <a:pt x="0" y="29470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878766" y="5096770"/>
            <a:ext cx="252986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2"/>
              </a:lnSpc>
            </a:pPr>
            <a:r>
              <a:rPr lang="en-US" sz="6900" spc="-1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78766" y="6051652"/>
            <a:ext cx="2834659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Productos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903915" y="4613377"/>
            <a:ext cx="3139307" cy="2210248"/>
            <a:chOff x="0" y="0"/>
            <a:chExt cx="4185742" cy="29469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85793" cy="2947035"/>
            </a:xfrm>
            <a:custGeom>
              <a:avLst/>
              <a:gdLst/>
              <a:ahLst/>
              <a:cxnLst/>
              <a:rect r="r" b="b" t="t" l="l"/>
              <a:pathLst>
                <a:path h="2947035" w="4185793">
                  <a:moveTo>
                    <a:pt x="0" y="0"/>
                  </a:moveTo>
                  <a:lnTo>
                    <a:pt x="4185793" y="0"/>
                  </a:lnTo>
                  <a:lnTo>
                    <a:pt x="4185793" y="2947035"/>
                  </a:lnTo>
                  <a:lnTo>
                    <a:pt x="0" y="29470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208706" y="5096770"/>
            <a:ext cx="252971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2"/>
              </a:lnSpc>
            </a:pPr>
            <a:r>
              <a:rPr lang="en-US" sz="6900" spc="-1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08706" y="6051652"/>
            <a:ext cx="2834507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Sucursales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233712" y="4613377"/>
            <a:ext cx="3139450" cy="2210248"/>
            <a:chOff x="0" y="0"/>
            <a:chExt cx="4185933" cy="29469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85920" cy="2947035"/>
            </a:xfrm>
            <a:custGeom>
              <a:avLst/>
              <a:gdLst/>
              <a:ahLst/>
              <a:cxnLst/>
              <a:rect r="r" b="b" t="t" l="l"/>
              <a:pathLst>
                <a:path h="2947035" w="4185920">
                  <a:moveTo>
                    <a:pt x="0" y="0"/>
                  </a:moveTo>
                  <a:lnTo>
                    <a:pt x="4185920" y="0"/>
                  </a:lnTo>
                  <a:lnTo>
                    <a:pt x="4185920" y="2947035"/>
                  </a:lnTo>
                  <a:lnTo>
                    <a:pt x="0" y="2947035"/>
                  </a:lnTo>
                  <a:close/>
                </a:path>
              </a:pathLst>
            </a:custGeom>
            <a:solidFill>
              <a:srgbClr val="E7D8A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538503" y="5096770"/>
            <a:ext cx="252986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2"/>
              </a:lnSpc>
            </a:pPr>
            <a:r>
              <a:rPr lang="en-US" sz="6900" spc="-1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365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38503" y="6051652"/>
            <a:ext cx="2834659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Detalles de ventas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4381" y="8016773"/>
            <a:ext cx="16458790" cy="47473"/>
            <a:chOff x="0" y="0"/>
            <a:chExt cx="21945054" cy="632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4964" cy="63246"/>
            </a:xfrm>
            <a:custGeom>
              <a:avLst/>
              <a:gdLst/>
              <a:ahLst/>
              <a:cxnLst/>
              <a:rect r="r" b="b" t="t" l="l"/>
              <a:pathLst>
                <a:path h="63246" w="21944964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1913342" y="0"/>
                  </a:lnTo>
                  <a:cubicBezTo>
                    <a:pt x="21930868" y="0"/>
                    <a:pt x="21944964" y="14224"/>
                    <a:pt x="21944964" y="31623"/>
                  </a:cubicBezTo>
                  <a:cubicBezTo>
                    <a:pt x="21944964" y="49149"/>
                    <a:pt x="21930740" y="63246"/>
                    <a:pt x="21913342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4681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14381" y="8361340"/>
            <a:ext cx="9463897" cy="54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Sin registros sin correspondencia en las relaciones verificadas.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63907" y="8361340"/>
            <a:ext cx="6309265" cy="101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Todos los descuentos observados son </a:t>
            </a:r>
            <a:r>
              <a:rPr lang="en-US" sz="2550" b="true">
                <a:solidFill>
                  <a:srgbClr val="392C2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0.00</a:t>
            </a:r>
            <a:r>
              <a:rPr lang="en-US" sz="255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7712185" y="9677848"/>
            <a:ext cx="575358" cy="303762"/>
            <a:chOff x="0" y="0"/>
            <a:chExt cx="767144" cy="4050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7140" cy="405010"/>
            </a:xfrm>
            <a:custGeom>
              <a:avLst/>
              <a:gdLst/>
              <a:ahLst/>
              <a:cxnLst/>
              <a:rect r="r" b="b" t="t" l="l"/>
              <a:pathLst>
                <a:path h="405010" w="767140">
                  <a:moveTo>
                    <a:pt x="0" y="0"/>
                  </a:moveTo>
                  <a:lnTo>
                    <a:pt x="767140" y="0"/>
                  </a:lnTo>
                  <a:lnTo>
                    <a:pt x="767140" y="405010"/>
                  </a:lnTo>
                  <a:lnTo>
                    <a:pt x="0" y="405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738" t="0" r="-17738" b="-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67144" cy="452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5"/>
                </a:lnSpc>
              </a:pPr>
              <a:r>
                <a:rPr lang="en-US" sz="1650" spc="66">
                  <a:solidFill>
                    <a:srgbClr val="53627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381" y="899636"/>
            <a:ext cx="17373162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b="true" sz="1800" spc="144">
                <a:solidFill>
                  <a:srgbClr val="392C2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MEDIDAS COMERCIALES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381" y="1390517"/>
            <a:ext cx="16458790" cy="6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spc="-48">
                <a:solidFill>
                  <a:srgbClr val="392C23"/>
                </a:solidFill>
                <a:latin typeface="Arimo"/>
                <a:ea typeface="Arimo"/>
                <a:cs typeface="Arimo"/>
                <a:sym typeface="Arimo"/>
              </a:rPr>
              <a:t>Cinco KPI para el análisis comercial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381" y="2274418"/>
            <a:ext cx="17373162" cy="54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Análisis por fecha, producto, sucursal, cliente y empleado.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381" y="3106636"/>
            <a:ext cx="8000800" cy="1783852"/>
            <a:chOff x="0" y="0"/>
            <a:chExt cx="10667733" cy="2378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67746" cy="2378456"/>
            </a:xfrm>
            <a:custGeom>
              <a:avLst/>
              <a:gdLst/>
              <a:ahLst/>
              <a:cxnLst/>
              <a:rect r="r" b="b" t="t" l="l"/>
              <a:pathLst>
                <a:path h="2378456" w="10667746">
                  <a:moveTo>
                    <a:pt x="0" y="0"/>
                  </a:moveTo>
                  <a:lnTo>
                    <a:pt x="10667746" y="0"/>
                  </a:lnTo>
                  <a:lnTo>
                    <a:pt x="10667746" y="2378456"/>
                  </a:lnTo>
                  <a:lnTo>
                    <a:pt x="0" y="23784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57271" y="3449498"/>
            <a:ext cx="647681" cy="647700"/>
            <a:chOff x="0" y="0"/>
            <a:chExt cx="863575" cy="8636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63600" cy="863600"/>
            </a:xfrm>
            <a:custGeom>
              <a:avLst/>
              <a:gdLst/>
              <a:ahLst/>
              <a:cxnLst/>
              <a:rect r="r" b="b" t="t" l="l"/>
              <a:pathLst>
                <a:path h="863600" w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228793" y="3414770"/>
            <a:ext cx="6343488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Monto bruto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8793" y="4079081"/>
            <a:ext cx="6686379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SUM(MontoBruto)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72362" y="3106636"/>
            <a:ext cx="8000800" cy="1783852"/>
            <a:chOff x="0" y="0"/>
            <a:chExt cx="10667733" cy="2378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67746" cy="2378456"/>
            </a:xfrm>
            <a:custGeom>
              <a:avLst/>
              <a:gdLst/>
              <a:ahLst/>
              <a:cxnLst/>
              <a:rect r="r" b="b" t="t" l="l"/>
              <a:pathLst>
                <a:path h="2378456" w="10667746">
                  <a:moveTo>
                    <a:pt x="0" y="0"/>
                  </a:moveTo>
                  <a:lnTo>
                    <a:pt x="10667746" y="0"/>
                  </a:lnTo>
                  <a:lnTo>
                    <a:pt x="10667746" y="2378456"/>
                  </a:lnTo>
                  <a:lnTo>
                    <a:pt x="0" y="23784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15252" y="3449498"/>
            <a:ext cx="647681" cy="647700"/>
            <a:chOff x="0" y="0"/>
            <a:chExt cx="863575" cy="8636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863600" cy="863600"/>
            </a:xfrm>
            <a:custGeom>
              <a:avLst/>
              <a:gdLst/>
              <a:ahLst/>
              <a:cxnLst/>
              <a:rect r="r" b="b" t="t" l="l"/>
              <a:pathLst>
                <a:path h="863600" w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686783" y="3414770"/>
            <a:ext cx="6343488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Monto neto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86783" y="4079081"/>
            <a:ext cx="6686379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SUM(MontoNeto)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381" y="5347545"/>
            <a:ext cx="8000800" cy="1784147"/>
            <a:chOff x="0" y="0"/>
            <a:chExt cx="10667733" cy="23788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67746" cy="2378837"/>
            </a:xfrm>
            <a:custGeom>
              <a:avLst/>
              <a:gdLst/>
              <a:ahLst/>
              <a:cxnLst/>
              <a:rect r="r" b="b" t="t" l="l"/>
              <a:pathLst>
                <a:path h="2378837" w="10667746">
                  <a:moveTo>
                    <a:pt x="0" y="0"/>
                  </a:moveTo>
                  <a:lnTo>
                    <a:pt x="10667746" y="0"/>
                  </a:lnTo>
                  <a:lnTo>
                    <a:pt x="10667746" y="2378837"/>
                  </a:lnTo>
                  <a:lnTo>
                    <a:pt x="0" y="237883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57271" y="5690406"/>
            <a:ext cx="647681" cy="647700"/>
            <a:chOff x="0" y="0"/>
            <a:chExt cx="863575" cy="8636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63600" cy="863600"/>
            </a:xfrm>
            <a:custGeom>
              <a:avLst/>
              <a:gdLst/>
              <a:ahLst/>
              <a:cxnLst/>
              <a:rect r="r" b="b" t="t" l="l"/>
              <a:pathLst>
                <a:path h="863600" w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1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228793" y="5655678"/>
            <a:ext cx="6343488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Descuentos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28793" y="6319990"/>
            <a:ext cx="6686379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SUM(MontoDescuento)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72362" y="5347545"/>
            <a:ext cx="8000800" cy="1784147"/>
            <a:chOff x="0" y="0"/>
            <a:chExt cx="10667733" cy="23788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67746" cy="2378837"/>
            </a:xfrm>
            <a:custGeom>
              <a:avLst/>
              <a:gdLst/>
              <a:ahLst/>
              <a:cxnLst/>
              <a:rect r="r" b="b" t="t" l="l"/>
              <a:pathLst>
                <a:path h="2378837" w="10667746">
                  <a:moveTo>
                    <a:pt x="0" y="0"/>
                  </a:moveTo>
                  <a:lnTo>
                    <a:pt x="10667746" y="0"/>
                  </a:lnTo>
                  <a:lnTo>
                    <a:pt x="10667746" y="2378837"/>
                  </a:lnTo>
                  <a:lnTo>
                    <a:pt x="0" y="237883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715252" y="5690406"/>
            <a:ext cx="647681" cy="647700"/>
            <a:chOff x="0" y="0"/>
            <a:chExt cx="863575" cy="8636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863600" cy="863600"/>
            </a:xfrm>
            <a:custGeom>
              <a:avLst/>
              <a:gdLst/>
              <a:ahLst/>
              <a:cxnLst/>
              <a:rect r="r" b="b" t="t" l="l"/>
              <a:pathLst>
                <a:path h="863600" w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1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686783" y="5655678"/>
            <a:ext cx="6343488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Cantidad vendida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86783" y="6319990"/>
            <a:ext cx="6686379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SUM(Cantidad)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4381" y="7588748"/>
            <a:ext cx="16458790" cy="1783852"/>
            <a:chOff x="0" y="0"/>
            <a:chExt cx="21945054" cy="23784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092" cy="2378456"/>
            </a:xfrm>
            <a:custGeom>
              <a:avLst/>
              <a:gdLst/>
              <a:ahLst/>
              <a:cxnLst/>
              <a:rect r="r" b="b" t="t" l="l"/>
              <a:pathLst>
                <a:path h="2378456" w="21945092">
                  <a:moveTo>
                    <a:pt x="0" y="0"/>
                  </a:moveTo>
                  <a:lnTo>
                    <a:pt x="21945092" y="0"/>
                  </a:lnTo>
                  <a:lnTo>
                    <a:pt x="21945092" y="2378456"/>
                  </a:lnTo>
                  <a:lnTo>
                    <a:pt x="0" y="2378456"/>
                  </a:lnTo>
                  <a:close/>
                </a:path>
              </a:pathLst>
            </a:custGeom>
            <a:solidFill>
              <a:srgbClr val="E7D8A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57271" y="7931610"/>
            <a:ext cx="647681" cy="647700"/>
            <a:chOff x="0" y="0"/>
            <a:chExt cx="863575" cy="86360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863600" cy="863600"/>
            </a:xfrm>
            <a:custGeom>
              <a:avLst/>
              <a:gdLst/>
              <a:ahLst/>
              <a:cxnLst/>
              <a:rect r="r" b="b" t="t" l="l"/>
              <a:pathLst>
                <a:path h="863600" w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1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2228793" y="7896882"/>
            <a:ext cx="14801479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Número de ventas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28793" y="8561184"/>
            <a:ext cx="15144369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COUNT(DISTINCT Venta_BK)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7711442" y="9677848"/>
            <a:ext cx="576101" cy="303762"/>
            <a:chOff x="0" y="0"/>
            <a:chExt cx="768134" cy="4050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8132" cy="405010"/>
            </a:xfrm>
            <a:custGeom>
              <a:avLst/>
              <a:gdLst/>
              <a:ahLst/>
              <a:cxnLst/>
              <a:rect r="r" b="b" t="t" l="l"/>
              <a:pathLst>
                <a:path h="405010" w="768132">
                  <a:moveTo>
                    <a:pt x="0" y="0"/>
                  </a:moveTo>
                  <a:lnTo>
                    <a:pt x="768132" y="0"/>
                  </a:lnTo>
                  <a:lnTo>
                    <a:pt x="768132" y="405010"/>
                  </a:lnTo>
                  <a:lnTo>
                    <a:pt x="0" y="4050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7650" t="0" r="-17651" b="-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68134" cy="452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5"/>
                </a:lnSpc>
              </a:pPr>
              <a:r>
                <a:rPr lang="en-US" sz="1650" spc="66">
                  <a:solidFill>
                    <a:srgbClr val="53627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381" y="899636"/>
            <a:ext cx="17373162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b="true" sz="1800" spc="144">
                <a:solidFill>
                  <a:srgbClr val="392C2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DISEÑO DIMENSIONAL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381" y="1390517"/>
            <a:ext cx="16458790" cy="6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spc="-48">
                <a:solidFill>
                  <a:srgbClr val="392C23"/>
                </a:solidFill>
                <a:latin typeface="Arimo"/>
                <a:ea typeface="Arimo"/>
                <a:cs typeface="Arimo"/>
                <a:sym typeface="Arimo"/>
              </a:rPr>
              <a:t>Los cuatro pasos de Kimball aplicados al 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381" y="4084739"/>
            <a:ext cx="1287485" cy="3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2775">
                <a:solidFill>
                  <a:srgbClr val="806117"/>
                </a:solidFill>
                <a:latin typeface="Public Sans"/>
                <a:ea typeface="Public Sans"/>
                <a:cs typeface="Public Sans"/>
                <a:sym typeface="Public Sans"/>
              </a:rPr>
              <a:t>01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381" y="4522889"/>
            <a:ext cx="3971830" cy="28575"/>
            <a:chOff x="0" y="0"/>
            <a:chExt cx="5295773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95773" cy="38100"/>
            </a:xfrm>
            <a:custGeom>
              <a:avLst/>
              <a:gdLst/>
              <a:ahLst/>
              <a:cxnLst/>
              <a:rect r="r" b="b" t="t" l="l"/>
              <a:pathLst>
                <a:path h="38100" w="5295773">
                  <a:moveTo>
                    <a:pt x="0" y="0"/>
                  </a:moveTo>
                  <a:lnTo>
                    <a:pt x="5295773" y="0"/>
                  </a:lnTo>
                  <a:lnTo>
                    <a:pt x="52957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28B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914381" y="4749013"/>
            <a:ext cx="3971830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Proceso de negocio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381" y="5407847"/>
            <a:ext cx="3971830" cy="54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Ventas de muebles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76701" y="4084739"/>
            <a:ext cx="1358322" cy="3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2775">
                <a:solidFill>
                  <a:srgbClr val="806117"/>
                </a:solidFill>
                <a:latin typeface="Public Sans"/>
                <a:ea typeface="Public Sans"/>
                <a:cs typeface="Public Sans"/>
                <a:sym typeface="Public Sans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076701" y="4522889"/>
            <a:ext cx="3971830" cy="28575"/>
            <a:chOff x="0" y="0"/>
            <a:chExt cx="5295773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95773" cy="38100"/>
            </a:xfrm>
            <a:custGeom>
              <a:avLst/>
              <a:gdLst/>
              <a:ahLst/>
              <a:cxnLst/>
              <a:rect r="r" b="b" t="t" l="l"/>
              <a:pathLst>
                <a:path h="38100" w="5295773">
                  <a:moveTo>
                    <a:pt x="0" y="0"/>
                  </a:moveTo>
                  <a:lnTo>
                    <a:pt x="5295773" y="0"/>
                  </a:lnTo>
                  <a:lnTo>
                    <a:pt x="52957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28B2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076701" y="4749013"/>
            <a:ext cx="3971830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Granularidad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76701" y="5407847"/>
            <a:ext cx="3971830" cy="195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Una fila por línea de detalle de producto vendido dentro de una venta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39021" y="4084739"/>
            <a:ext cx="1367990" cy="3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2775">
                <a:solidFill>
                  <a:srgbClr val="806117"/>
                </a:solidFill>
                <a:latin typeface="Public Sans"/>
                <a:ea typeface="Public Sans"/>
                <a:cs typeface="Public Sans"/>
                <a:sym typeface="Public Sans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39021" y="4522889"/>
            <a:ext cx="3971830" cy="28575"/>
            <a:chOff x="0" y="0"/>
            <a:chExt cx="5295773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95773" cy="38100"/>
            </a:xfrm>
            <a:custGeom>
              <a:avLst/>
              <a:gdLst/>
              <a:ahLst/>
              <a:cxnLst/>
              <a:rect r="r" b="b" t="t" l="l"/>
              <a:pathLst>
                <a:path h="38100" w="5295773">
                  <a:moveTo>
                    <a:pt x="0" y="0"/>
                  </a:moveTo>
                  <a:lnTo>
                    <a:pt x="5295773" y="0"/>
                  </a:lnTo>
                  <a:lnTo>
                    <a:pt x="52957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28B2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239021" y="4749013"/>
            <a:ext cx="3971830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Dimensiones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39021" y="5407847"/>
            <a:ext cx="3971830" cy="148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Tiempo, Cliente, Empleado, Producto y Sucursal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01342" y="4084739"/>
            <a:ext cx="1366799" cy="3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2775">
                <a:solidFill>
                  <a:srgbClr val="806117"/>
                </a:solidFill>
                <a:latin typeface="Public Sans"/>
                <a:ea typeface="Public Sans"/>
                <a:cs typeface="Public Sans"/>
                <a:sym typeface="Public Sans"/>
              </a:rPr>
              <a:t>04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01342" y="4522889"/>
            <a:ext cx="3971830" cy="28575"/>
            <a:chOff x="0" y="0"/>
            <a:chExt cx="5295773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95773" cy="38100"/>
            </a:xfrm>
            <a:custGeom>
              <a:avLst/>
              <a:gdLst/>
              <a:ahLst/>
              <a:cxnLst/>
              <a:rect r="r" b="b" t="t" l="l"/>
              <a:pathLst>
                <a:path h="38100" w="5295773">
                  <a:moveTo>
                    <a:pt x="0" y="0"/>
                  </a:moveTo>
                  <a:lnTo>
                    <a:pt x="5295773" y="0"/>
                  </a:lnTo>
                  <a:lnTo>
                    <a:pt x="52957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28B2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401342" y="4749013"/>
            <a:ext cx="3971830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Hechos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01342" y="5413324"/>
            <a:ext cx="3971830" cy="126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Cantidad, PrecioUnitario, MontoBruto, MontoDescuento y MontoNeto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708613" y="9677848"/>
            <a:ext cx="578930" cy="303762"/>
            <a:chOff x="0" y="0"/>
            <a:chExt cx="771906" cy="4050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1902" cy="405010"/>
            </a:xfrm>
            <a:custGeom>
              <a:avLst/>
              <a:gdLst/>
              <a:ahLst/>
              <a:cxnLst/>
              <a:rect r="r" b="b" t="t" l="l"/>
              <a:pathLst>
                <a:path h="405010" w="771902">
                  <a:moveTo>
                    <a:pt x="0" y="0"/>
                  </a:moveTo>
                  <a:lnTo>
                    <a:pt x="771902" y="0"/>
                  </a:lnTo>
                  <a:lnTo>
                    <a:pt x="771902" y="405010"/>
                  </a:lnTo>
                  <a:lnTo>
                    <a:pt x="0" y="405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320" t="0" r="-17320" b="-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71906" cy="452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5"/>
                </a:lnSpc>
              </a:pPr>
              <a:r>
                <a:rPr lang="en-US" sz="1650" spc="66">
                  <a:solidFill>
                    <a:srgbClr val="53627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381" y="899636"/>
            <a:ext cx="17373162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b="true" sz="1800" spc="144">
                <a:solidFill>
                  <a:srgbClr val="392C2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ESTRUCTURA IMPLEMENTADA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381" y="1390517"/>
            <a:ext cx="16458790" cy="6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spc="-48">
                <a:solidFill>
                  <a:srgbClr val="392C23"/>
                </a:solidFill>
                <a:latin typeface="Arimo"/>
                <a:ea typeface="Arimo"/>
                <a:cs typeface="Arimo"/>
                <a:sym typeface="Arimo"/>
              </a:rPr>
              <a:t>Modelo estrella implementado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381" y="2654703"/>
            <a:ext cx="5257667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Fact_Ventas al centro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381" y="3319015"/>
            <a:ext cx="5257667" cy="126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Dim_Tiempo, Dim_Cliente, Dim_Empleado, Dim_Producto y Dim_Sucursal.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381" y="4856264"/>
            <a:ext cx="5257667" cy="47473"/>
            <a:chOff x="0" y="0"/>
            <a:chExt cx="7010222" cy="632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10146" cy="63246"/>
            </a:xfrm>
            <a:custGeom>
              <a:avLst/>
              <a:gdLst/>
              <a:ahLst/>
              <a:cxnLst/>
              <a:rect r="r" b="b" t="t" l="l"/>
              <a:pathLst>
                <a:path h="63246" w="70101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6978523" y="0"/>
                  </a:lnTo>
                  <a:cubicBezTo>
                    <a:pt x="6996049" y="0"/>
                    <a:pt x="7010146" y="14224"/>
                    <a:pt x="7010146" y="31623"/>
                  </a:cubicBezTo>
                  <a:cubicBezTo>
                    <a:pt x="7010146" y="49149"/>
                    <a:pt x="6995922" y="63246"/>
                    <a:pt x="6978523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B28B2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381" y="5106295"/>
            <a:ext cx="5257667" cy="245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Venta_SK es PK; Venta_BK es BK.</a:t>
            </a:r>
          </a:p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Las cinco claves *_SK dimensionales son FK.</a:t>
            </a:r>
          </a:p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Una dimensión puede relacionarse con múltiples hechos.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48304" y="2337044"/>
            <a:ext cx="10534383" cy="7045081"/>
            <a:chOff x="0" y="0"/>
            <a:chExt cx="14045844" cy="93934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45819" cy="9393428"/>
            </a:xfrm>
            <a:custGeom>
              <a:avLst/>
              <a:gdLst/>
              <a:ahLst/>
              <a:cxnLst/>
              <a:rect r="r" b="b" t="t" l="l"/>
              <a:pathLst>
                <a:path h="9393428" w="14045819">
                  <a:moveTo>
                    <a:pt x="0" y="0"/>
                  </a:moveTo>
                  <a:lnTo>
                    <a:pt x="14045819" y="0"/>
                  </a:lnTo>
                  <a:lnTo>
                    <a:pt x="14045819" y="9393428"/>
                  </a:lnTo>
                  <a:lnTo>
                    <a:pt x="0" y="93934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805" t="0" r="-35805" b="0"/>
              </a:stretch>
            </a:blipFill>
            <a:ln w="19050" cap="sq">
              <a:solidFill>
                <a:srgbClr val="B8A993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7713823" y="9677848"/>
            <a:ext cx="573719" cy="303762"/>
            <a:chOff x="0" y="0"/>
            <a:chExt cx="764959" cy="4050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4958" cy="405010"/>
            </a:xfrm>
            <a:custGeom>
              <a:avLst/>
              <a:gdLst/>
              <a:ahLst/>
              <a:cxnLst/>
              <a:rect r="r" b="b" t="t" l="l"/>
              <a:pathLst>
                <a:path h="405010" w="764958">
                  <a:moveTo>
                    <a:pt x="0" y="0"/>
                  </a:moveTo>
                  <a:lnTo>
                    <a:pt x="764958" y="0"/>
                  </a:lnTo>
                  <a:lnTo>
                    <a:pt x="764958" y="405010"/>
                  </a:lnTo>
                  <a:lnTo>
                    <a:pt x="0" y="405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31" t="0" r="-17931" b="-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64959" cy="452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5"/>
                </a:lnSpc>
              </a:pPr>
              <a:r>
                <a:rPr lang="en-US" sz="1650" spc="66">
                  <a:solidFill>
                    <a:srgbClr val="53627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89975" y="2387498"/>
            <a:ext cx="10454611" cy="6929733"/>
            <a:chOff x="0" y="0"/>
            <a:chExt cx="13939482" cy="9239644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939520" cy="9239631"/>
            </a:xfrm>
            <a:custGeom>
              <a:avLst/>
              <a:gdLst/>
              <a:ahLst/>
              <a:cxnLst/>
              <a:rect r="r" b="b" t="t" l="l"/>
              <a:pathLst>
                <a:path h="9239631" w="13939520">
                  <a:moveTo>
                    <a:pt x="0" y="0"/>
                  </a:moveTo>
                  <a:lnTo>
                    <a:pt x="13939520" y="0"/>
                  </a:lnTo>
                  <a:lnTo>
                    <a:pt x="13939520" y="9239631"/>
                  </a:lnTo>
                  <a:lnTo>
                    <a:pt x="0" y="9239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2" r="0" b="-8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381" y="899636"/>
            <a:ext cx="17373162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b="true" sz="1800" spc="144">
                <a:solidFill>
                  <a:srgbClr val="392C2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INTEGRACIÓN Y CARGA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381" y="1390517"/>
            <a:ext cx="16458790" cy="6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spc="-48">
                <a:solidFill>
                  <a:srgbClr val="392C23"/>
                </a:solidFill>
                <a:latin typeface="Arimo"/>
                <a:ea typeface="Arimo"/>
                <a:cs typeface="Arimo"/>
                <a:sym typeface="Arimo"/>
              </a:rPr>
              <a:t>ETL con SQL Server Integration Services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381" y="2266083"/>
            <a:ext cx="16458790" cy="67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sz="3600" spc="-36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Albarran (OLTP) → SSIS → Albarran_DW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381" y="3097111"/>
            <a:ext cx="17373162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Carga_Dimensiones.dtsx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381" y="3892896"/>
            <a:ext cx="125384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9"/>
              </a:lnSpc>
            </a:pPr>
            <a:r>
              <a:rPr lang="en-US" sz="2550">
                <a:solidFill>
                  <a:srgbClr val="765814"/>
                </a:solidFill>
                <a:latin typeface="Public Sans"/>
                <a:ea typeface="Public Sans"/>
                <a:cs typeface="Public Sans"/>
                <a:sym typeface="Public Sans"/>
              </a:rPr>
              <a:t>01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381" y="4308129"/>
            <a:ext cx="5181467" cy="28575"/>
            <a:chOff x="0" y="0"/>
            <a:chExt cx="6908622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08673" cy="38100"/>
            </a:xfrm>
            <a:custGeom>
              <a:avLst/>
              <a:gdLst/>
              <a:ahLst/>
              <a:cxnLst/>
              <a:rect r="r" b="b" t="t" l="l"/>
              <a:pathLst>
                <a:path h="38100" w="6908673">
                  <a:moveTo>
                    <a:pt x="0" y="0"/>
                  </a:moveTo>
                  <a:lnTo>
                    <a:pt x="6908673" y="0"/>
                  </a:lnTo>
                  <a:lnTo>
                    <a:pt x="69086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28B2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4381" y="4496152"/>
            <a:ext cx="5181467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Limpieza del destino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53038" y="3892896"/>
            <a:ext cx="131828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9"/>
              </a:lnSpc>
            </a:pPr>
            <a:r>
              <a:rPr lang="en-US" sz="2550">
                <a:solidFill>
                  <a:srgbClr val="765814"/>
                </a:solidFill>
                <a:latin typeface="Public Sans"/>
                <a:ea typeface="Public Sans"/>
                <a:cs typeface="Public Sans"/>
                <a:sym typeface="Public Sans"/>
              </a:rPr>
              <a:t>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53038" y="4308129"/>
            <a:ext cx="5181467" cy="28575"/>
            <a:chOff x="0" y="0"/>
            <a:chExt cx="6908622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08673" cy="38100"/>
            </a:xfrm>
            <a:custGeom>
              <a:avLst/>
              <a:gdLst/>
              <a:ahLst/>
              <a:cxnLst/>
              <a:rect r="r" b="b" t="t" l="l"/>
              <a:pathLst>
                <a:path h="38100" w="6908673">
                  <a:moveTo>
                    <a:pt x="0" y="0"/>
                  </a:moveTo>
                  <a:lnTo>
                    <a:pt x="6908673" y="0"/>
                  </a:lnTo>
                  <a:lnTo>
                    <a:pt x="69086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28B2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53038" y="4496152"/>
            <a:ext cx="5181467" cy="97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Carga de cuatro dimensiones descriptivas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1695" y="3892896"/>
            <a:ext cx="132707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9"/>
              </a:lnSpc>
            </a:pPr>
            <a:r>
              <a:rPr lang="en-US" sz="2550">
                <a:solidFill>
                  <a:srgbClr val="765814"/>
                </a:solidFill>
                <a:latin typeface="Public Sans"/>
                <a:ea typeface="Public Sans"/>
                <a:cs typeface="Public Sans"/>
                <a:sym typeface="Public Sans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91695" y="4308129"/>
            <a:ext cx="5181467" cy="28575"/>
            <a:chOff x="0" y="0"/>
            <a:chExt cx="6908622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08673" cy="38100"/>
            </a:xfrm>
            <a:custGeom>
              <a:avLst/>
              <a:gdLst/>
              <a:ahLst/>
              <a:cxnLst/>
              <a:rect r="r" b="b" t="t" l="l"/>
              <a:pathLst>
                <a:path h="38100" w="6908673">
                  <a:moveTo>
                    <a:pt x="0" y="0"/>
                  </a:moveTo>
                  <a:lnTo>
                    <a:pt x="6908673" y="0"/>
                  </a:lnTo>
                  <a:lnTo>
                    <a:pt x="69086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28B2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91695" y="4496152"/>
            <a:ext cx="5181467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Carga de Fact_Ventas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4381" y="5747147"/>
            <a:ext cx="5333867" cy="3848100"/>
            <a:chOff x="0" y="0"/>
            <a:chExt cx="7111822" cy="513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11873" cy="5130800"/>
            </a:xfrm>
            <a:custGeom>
              <a:avLst/>
              <a:gdLst/>
              <a:ahLst/>
              <a:cxnLst/>
              <a:rect r="r" b="b" t="t" l="l"/>
              <a:pathLst>
                <a:path h="5130800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5130800"/>
                  </a:lnTo>
                  <a:lnTo>
                    <a:pt x="0" y="5130800"/>
                  </a:lnTo>
                  <a:close/>
                </a:path>
              </a:pathLst>
            </a:custGeom>
            <a:solidFill>
              <a:srgbClr val="E7D8A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57271" y="6023372"/>
            <a:ext cx="4648086" cy="86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Dimensión tiempo generada con un procedimiento almacenado SQL.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7271" y="7134406"/>
            <a:ext cx="4648086" cy="67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sz="3600" spc="-3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365 fechas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7271" y="7959957"/>
            <a:ext cx="4990976" cy="54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2017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95904" y="5737622"/>
            <a:ext cx="10686783" cy="3867150"/>
            <a:chOff x="0" y="0"/>
            <a:chExt cx="14249044" cy="5156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249019" cy="5156200"/>
            </a:xfrm>
            <a:custGeom>
              <a:avLst/>
              <a:gdLst/>
              <a:ahLst/>
              <a:cxnLst/>
              <a:rect r="r" b="b" t="t" l="l"/>
              <a:pathLst>
                <a:path h="5156200" w="14249019">
                  <a:moveTo>
                    <a:pt x="0" y="0"/>
                  </a:moveTo>
                  <a:lnTo>
                    <a:pt x="14249019" y="0"/>
                  </a:lnTo>
                  <a:lnTo>
                    <a:pt x="14249019" y="5156200"/>
                  </a:lnTo>
                  <a:lnTo>
                    <a:pt x="0" y="51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6" r="0" b="-3846"/>
              </a:stretch>
            </a:blipFill>
            <a:ln w="19050" cap="sq">
              <a:solidFill>
                <a:srgbClr val="B8A99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7720967" y="9677848"/>
            <a:ext cx="566576" cy="303762"/>
            <a:chOff x="0" y="0"/>
            <a:chExt cx="755434" cy="4050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5432" cy="405010"/>
            </a:xfrm>
            <a:custGeom>
              <a:avLst/>
              <a:gdLst/>
              <a:ahLst/>
              <a:cxnLst/>
              <a:rect r="r" b="b" t="t" l="l"/>
              <a:pathLst>
                <a:path h="405010" w="755432">
                  <a:moveTo>
                    <a:pt x="0" y="0"/>
                  </a:moveTo>
                  <a:lnTo>
                    <a:pt x="755432" y="0"/>
                  </a:lnTo>
                  <a:lnTo>
                    <a:pt x="755432" y="405010"/>
                  </a:lnTo>
                  <a:lnTo>
                    <a:pt x="0" y="405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88" t="0" r="-18788" b="-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55434" cy="452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5"/>
                </a:lnSpc>
              </a:pPr>
              <a:r>
                <a:rPr lang="en-US" sz="1650" spc="66">
                  <a:solidFill>
                    <a:srgbClr val="53627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26269" y="5785247"/>
            <a:ext cx="10623385" cy="3746602"/>
            <a:chOff x="0" y="0"/>
            <a:chExt cx="14164513" cy="4995469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4164563" cy="4995418"/>
            </a:xfrm>
            <a:custGeom>
              <a:avLst/>
              <a:gdLst/>
              <a:ahLst/>
              <a:cxnLst/>
              <a:rect r="r" b="b" t="t" l="l"/>
              <a:pathLst>
                <a:path h="4995418" w="14164563">
                  <a:moveTo>
                    <a:pt x="0" y="0"/>
                  </a:moveTo>
                  <a:lnTo>
                    <a:pt x="14164563" y="0"/>
                  </a:lnTo>
                  <a:lnTo>
                    <a:pt x="14164563" y="4995418"/>
                  </a:lnTo>
                  <a:lnTo>
                    <a:pt x="0" y="4995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6" r="0" b="-11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381" y="899636"/>
            <a:ext cx="17373162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b="true" sz="1800" spc="144">
                <a:solidFill>
                  <a:srgbClr val="392C2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TRANSFORMACIONES ETL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381" y="1390517"/>
            <a:ext cx="16458790" cy="6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spc="-48">
                <a:solidFill>
                  <a:srgbClr val="392C23"/>
                </a:solidFill>
                <a:latin typeface="Arimo"/>
                <a:ea typeface="Arimo"/>
                <a:cs typeface="Arimo"/>
                <a:sym typeface="Arimo"/>
              </a:rPr>
              <a:t>Transformaciones de origen a destino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14378" y="2346573"/>
          <a:ext cx="16421100" cy="5810250"/>
        </p:xfrm>
        <a:graphic>
          <a:graphicData uri="http://schemas.openxmlformats.org/drawingml/2006/table">
            <a:tbl>
              <a:tblPr/>
              <a:tblGrid>
                <a:gridCol w="4930017"/>
                <a:gridCol w="4114712"/>
                <a:gridCol w="7376371"/>
              </a:tblGrid>
              <a:tr h="9713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Origen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→ Destino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Transformación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13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clientes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Dim_Cliente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Nombres completos y rango etario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13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empleados + cargos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Dim_Empleado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Información del empleado y nombre del cargo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13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productos + categorias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Dim_Producto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Productos con su categoría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13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sucursales + comunas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Dim_Sucursal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Información de sucursales y comunas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32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ventas + detalle_ventas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Fact_Ventas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Medidas de venta y claves dimensionales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914381" y="8905427"/>
            <a:ext cx="17373162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Consultas SQL · Conversiones de tipos de datos · Columnas derivadas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708613" y="9677848"/>
            <a:ext cx="578930" cy="303762"/>
            <a:chOff x="0" y="0"/>
            <a:chExt cx="771906" cy="405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1902" cy="405010"/>
            </a:xfrm>
            <a:custGeom>
              <a:avLst/>
              <a:gdLst/>
              <a:ahLst/>
              <a:cxnLst/>
              <a:rect r="r" b="b" t="t" l="l"/>
              <a:pathLst>
                <a:path h="405010" w="771902">
                  <a:moveTo>
                    <a:pt x="0" y="0"/>
                  </a:moveTo>
                  <a:lnTo>
                    <a:pt x="771902" y="0"/>
                  </a:lnTo>
                  <a:lnTo>
                    <a:pt x="771902" y="405010"/>
                  </a:lnTo>
                  <a:lnTo>
                    <a:pt x="0" y="405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320" t="0" r="-17320" b="-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771906" cy="452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5"/>
                </a:lnSpc>
              </a:pPr>
              <a:r>
                <a:rPr lang="en-US" sz="1650" spc="66">
                  <a:solidFill>
                    <a:srgbClr val="53627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381" y="442436"/>
            <a:ext cx="17373162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b="true" sz="1800" spc="144">
                <a:solidFill>
                  <a:srgbClr val="392C2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VALIDACIÓN DE LA CARGA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381" y="933317"/>
            <a:ext cx="16458790" cy="6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spc="-48">
                <a:solidFill>
                  <a:srgbClr val="392C23"/>
                </a:solidFill>
                <a:latin typeface="Arimo"/>
                <a:ea typeface="Arimo"/>
                <a:cs typeface="Arimo"/>
                <a:sym typeface="Arimo"/>
              </a:rPr>
              <a:t>La carga coincide con los cálculos validados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381" y="1889369"/>
            <a:ext cx="5359317" cy="2648845"/>
            <a:chOff x="0" y="0"/>
            <a:chExt cx="7145757" cy="3531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45782" cy="3531743"/>
            </a:xfrm>
            <a:custGeom>
              <a:avLst/>
              <a:gdLst/>
              <a:ahLst/>
              <a:cxnLst/>
              <a:rect r="r" b="b" t="t" l="l"/>
              <a:pathLst>
                <a:path h="3531743" w="7145782">
                  <a:moveTo>
                    <a:pt x="0" y="0"/>
                  </a:moveTo>
                  <a:lnTo>
                    <a:pt x="7145782" y="0"/>
                  </a:lnTo>
                  <a:lnTo>
                    <a:pt x="7145782" y="3531743"/>
                  </a:lnTo>
                  <a:lnTo>
                    <a:pt x="0" y="35317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9171" y="2387051"/>
            <a:ext cx="474972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1"/>
              </a:lnSpc>
            </a:pPr>
            <a:r>
              <a:rPr lang="en-US" sz="7200" spc="-1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365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171" y="3365744"/>
            <a:ext cx="5054527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Filas en Fact_Ventas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464036" y="1889369"/>
            <a:ext cx="5359460" cy="2648845"/>
            <a:chOff x="0" y="0"/>
            <a:chExt cx="7145947" cy="35317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5909" cy="3531743"/>
            </a:xfrm>
            <a:custGeom>
              <a:avLst/>
              <a:gdLst/>
              <a:ahLst/>
              <a:cxnLst/>
              <a:rect r="r" b="b" t="t" l="l"/>
              <a:pathLst>
                <a:path h="3531743" w="7145909">
                  <a:moveTo>
                    <a:pt x="0" y="0"/>
                  </a:moveTo>
                  <a:lnTo>
                    <a:pt x="7145909" y="0"/>
                  </a:lnTo>
                  <a:lnTo>
                    <a:pt x="7145909" y="3531743"/>
                  </a:lnTo>
                  <a:lnTo>
                    <a:pt x="0" y="35317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768827" y="2387051"/>
            <a:ext cx="474987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1"/>
              </a:lnSpc>
            </a:pPr>
            <a:r>
              <a:rPr lang="en-US" sz="7200" spc="-1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365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68827" y="3365744"/>
            <a:ext cx="5054670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Ventas distintas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013854" y="1889369"/>
            <a:ext cx="5359317" cy="2648845"/>
            <a:chOff x="0" y="0"/>
            <a:chExt cx="7145757" cy="35317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45782" cy="3531743"/>
            </a:xfrm>
            <a:custGeom>
              <a:avLst/>
              <a:gdLst/>
              <a:ahLst/>
              <a:cxnLst/>
              <a:rect r="r" b="b" t="t" l="l"/>
              <a:pathLst>
                <a:path h="3531743" w="7145782">
                  <a:moveTo>
                    <a:pt x="0" y="0"/>
                  </a:moveTo>
                  <a:lnTo>
                    <a:pt x="7145782" y="0"/>
                  </a:lnTo>
                  <a:lnTo>
                    <a:pt x="7145782" y="3531743"/>
                  </a:lnTo>
                  <a:lnTo>
                    <a:pt x="0" y="3531743"/>
                  </a:lnTo>
                  <a:close/>
                </a:path>
              </a:pathLst>
            </a:custGeom>
            <a:solidFill>
              <a:srgbClr val="E7D8A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18644" y="2387051"/>
            <a:ext cx="474972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1"/>
              </a:lnSpc>
            </a:pPr>
            <a:r>
              <a:rPr lang="en-US" sz="7200" spc="-1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18644" y="3365744"/>
            <a:ext cx="4749727" cy="86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Claves dimensionales sin correspondencia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381" y="4762052"/>
            <a:ext cx="17373162" cy="4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1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Un miembro desconocido en cada dimensión descriptiva.</a:t>
            </a:r>
          </a:p>
        </p:txBody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914378" y="5862638"/>
          <a:ext cx="9715500" cy="3257550"/>
        </p:xfrm>
        <a:graphic>
          <a:graphicData uri="http://schemas.openxmlformats.org/drawingml/2006/table">
            <a:tbl>
              <a:tblPr/>
              <a:tblGrid>
                <a:gridCol w="5050451"/>
                <a:gridCol w="4665049"/>
              </a:tblGrid>
              <a:tr h="8188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Conciliación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Pesos chilenos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88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Monto bruto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$414.022.446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88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Descuentos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$0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9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Monto neto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92C2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$414.022.446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A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914381" y="9327356"/>
            <a:ext cx="9738179" cy="35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75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Importes coincidentes con los cálculos validados antes de la carga.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71473" y="6665795"/>
            <a:ext cx="6511214" cy="1246823"/>
            <a:chOff x="0" y="0"/>
            <a:chExt cx="8681618" cy="16624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81593" cy="1662430"/>
            </a:xfrm>
            <a:custGeom>
              <a:avLst/>
              <a:gdLst/>
              <a:ahLst/>
              <a:cxnLst/>
              <a:rect r="r" b="b" t="t" l="l"/>
              <a:pathLst>
                <a:path h="1662430" w="8681593">
                  <a:moveTo>
                    <a:pt x="0" y="0"/>
                  </a:moveTo>
                  <a:lnTo>
                    <a:pt x="8681593" y="0"/>
                  </a:lnTo>
                  <a:lnTo>
                    <a:pt x="8681593" y="1662430"/>
                  </a:lnTo>
                  <a:lnTo>
                    <a:pt x="0" y="16624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755" r="0" b="-51755"/>
              </a:stretch>
            </a:blipFill>
            <a:ln w="19050" cap="sq">
              <a:solidFill>
                <a:srgbClr val="B8A99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7713376" y="9677848"/>
            <a:ext cx="574167" cy="303762"/>
            <a:chOff x="0" y="0"/>
            <a:chExt cx="765556" cy="4050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5552" cy="405010"/>
            </a:xfrm>
            <a:custGeom>
              <a:avLst/>
              <a:gdLst/>
              <a:ahLst/>
              <a:cxnLst/>
              <a:rect r="r" b="b" t="t" l="l"/>
              <a:pathLst>
                <a:path h="405010" w="765552">
                  <a:moveTo>
                    <a:pt x="0" y="0"/>
                  </a:moveTo>
                  <a:lnTo>
                    <a:pt x="765552" y="0"/>
                  </a:lnTo>
                  <a:lnTo>
                    <a:pt x="765552" y="405010"/>
                  </a:lnTo>
                  <a:lnTo>
                    <a:pt x="0" y="405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878" t="0" r="-17879" b="-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65556" cy="452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5"/>
                </a:lnSpc>
              </a:pPr>
              <a:r>
                <a:rPr lang="en-US" sz="1650" spc="66">
                  <a:solidFill>
                    <a:srgbClr val="53627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09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13297" y="6892823"/>
            <a:ext cx="6453178" cy="787746"/>
            <a:chOff x="0" y="0"/>
            <a:chExt cx="8604237" cy="105032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8604250" cy="1050290"/>
            </a:xfrm>
            <a:custGeom>
              <a:avLst/>
              <a:gdLst/>
              <a:ahLst/>
              <a:cxnLst/>
              <a:rect r="r" b="b" t="t" l="l"/>
              <a:pathLst>
                <a:path h="1050290" w="8604250">
                  <a:moveTo>
                    <a:pt x="0" y="0"/>
                  </a:moveTo>
                  <a:lnTo>
                    <a:pt x="8604250" y="0"/>
                  </a:lnTo>
                  <a:lnTo>
                    <a:pt x="8604250" y="1050290"/>
                  </a:lnTo>
                  <a:lnTo>
                    <a:pt x="0" y="1050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46" r="0" b="-75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381" y="899636"/>
            <a:ext cx="17373162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b="true" sz="1800" spc="144">
                <a:solidFill>
                  <a:srgbClr val="392C2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FASE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381" y="1390517"/>
            <a:ext cx="16458790" cy="6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spc="-48">
                <a:solidFill>
                  <a:srgbClr val="392C23"/>
                </a:solidFill>
                <a:latin typeface="Arimo"/>
                <a:ea typeface="Arimo"/>
                <a:cs typeface="Arimo"/>
                <a:sym typeface="Arimo"/>
              </a:rPr>
              <a:t>La Fase 1 deja una base dimensional validada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381" y="3189837"/>
            <a:ext cx="5181467" cy="2866873"/>
            <a:chOff x="0" y="0"/>
            <a:chExt cx="6908622" cy="38224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08673" cy="3822446"/>
            </a:xfrm>
            <a:custGeom>
              <a:avLst/>
              <a:gdLst/>
              <a:ahLst/>
              <a:cxnLst/>
              <a:rect r="r" b="b" t="t" l="l"/>
              <a:pathLst>
                <a:path h="3822446" w="6908673">
                  <a:moveTo>
                    <a:pt x="0" y="0"/>
                  </a:moveTo>
                  <a:lnTo>
                    <a:pt x="6908673" y="0"/>
                  </a:lnTo>
                  <a:lnTo>
                    <a:pt x="6908673" y="3822446"/>
                  </a:lnTo>
                  <a:lnTo>
                    <a:pt x="0" y="382244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95371" y="3536071"/>
            <a:ext cx="4419486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Modelo dimensional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5371" y="4194896"/>
            <a:ext cx="4419486" cy="101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Estrella: cinco dimensiones y una tabla de hechos.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53038" y="3189837"/>
            <a:ext cx="5181467" cy="2866873"/>
            <a:chOff x="0" y="0"/>
            <a:chExt cx="6908622" cy="3822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08673" cy="3822446"/>
            </a:xfrm>
            <a:custGeom>
              <a:avLst/>
              <a:gdLst/>
              <a:ahLst/>
              <a:cxnLst/>
              <a:rect r="r" b="b" t="t" l="l"/>
              <a:pathLst>
                <a:path h="3822446" w="6908673">
                  <a:moveTo>
                    <a:pt x="0" y="0"/>
                  </a:moveTo>
                  <a:lnTo>
                    <a:pt x="6908673" y="0"/>
                  </a:lnTo>
                  <a:lnTo>
                    <a:pt x="6908673" y="3822446"/>
                  </a:lnTo>
                  <a:lnTo>
                    <a:pt x="0" y="382244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934029" y="3536071"/>
            <a:ext cx="4419486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ETL funcional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34029" y="4194896"/>
            <a:ext cx="4419486" cy="148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Recarga completa desarrollada y probada con SSIS.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191695" y="3189837"/>
            <a:ext cx="5181467" cy="2866873"/>
            <a:chOff x="0" y="0"/>
            <a:chExt cx="6908622" cy="38224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08673" cy="3822446"/>
            </a:xfrm>
            <a:custGeom>
              <a:avLst/>
              <a:gdLst/>
              <a:ahLst/>
              <a:cxnLst/>
              <a:rect r="r" b="b" t="t" l="l"/>
              <a:pathLst>
                <a:path h="3822446" w="6908673">
                  <a:moveTo>
                    <a:pt x="0" y="0"/>
                  </a:moveTo>
                  <a:lnTo>
                    <a:pt x="6908673" y="0"/>
                  </a:lnTo>
                  <a:lnTo>
                    <a:pt x="6908673" y="3822446"/>
                  </a:lnTo>
                  <a:lnTo>
                    <a:pt x="0" y="3822446"/>
                  </a:lnTo>
                  <a:close/>
                </a:path>
              </a:pathLst>
            </a:custGeom>
            <a:solidFill>
              <a:srgbClr val="E7D8A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572686" y="3536071"/>
            <a:ext cx="4419486" cy="51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-2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Datos validados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72686" y="4194896"/>
            <a:ext cx="4419486" cy="148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Conteos, claves dimensionales y conciliación de importes.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381" y="7304780"/>
            <a:ext cx="16458790" cy="57150"/>
            <a:chOff x="0" y="0"/>
            <a:chExt cx="21945054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092" cy="76200"/>
            </a:xfrm>
            <a:custGeom>
              <a:avLst/>
              <a:gdLst/>
              <a:ahLst/>
              <a:cxnLst/>
              <a:rect r="r" b="b" t="t" l="l"/>
              <a:pathLst>
                <a:path h="76200" w="2194509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906992" y="0"/>
                  </a:lnTo>
                  <a:cubicBezTo>
                    <a:pt x="21928074" y="0"/>
                    <a:pt x="21945092" y="17018"/>
                    <a:pt x="21945092" y="38100"/>
                  </a:cubicBezTo>
                  <a:cubicBezTo>
                    <a:pt x="21945092" y="59182"/>
                    <a:pt x="21928074" y="76200"/>
                    <a:pt x="21906992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B28B2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14381" y="7661253"/>
            <a:ext cx="17373162" cy="54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550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Continuidad → Fase 2, aún no implementada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381" y="8708260"/>
            <a:ext cx="16458790" cy="67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sz="3600" spc="-36">
                <a:solidFill>
                  <a:srgbClr val="392C23"/>
                </a:solidFill>
                <a:latin typeface="Public Sans"/>
                <a:ea typeface="Public Sans"/>
                <a:cs typeface="Public Sans"/>
                <a:sym typeface="Public Sans"/>
              </a:rPr>
              <a:t>Cubo OLAP en SSAS · Dashboard en Power BI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7757581" y="9677848"/>
            <a:ext cx="529961" cy="303762"/>
            <a:chOff x="0" y="0"/>
            <a:chExt cx="706615" cy="4050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6618" cy="405010"/>
            </a:xfrm>
            <a:custGeom>
              <a:avLst/>
              <a:gdLst/>
              <a:ahLst/>
              <a:cxnLst/>
              <a:rect r="r" b="b" t="t" l="l"/>
              <a:pathLst>
                <a:path h="405010" w="706618">
                  <a:moveTo>
                    <a:pt x="0" y="0"/>
                  </a:moveTo>
                  <a:lnTo>
                    <a:pt x="706618" y="0"/>
                  </a:lnTo>
                  <a:lnTo>
                    <a:pt x="706618" y="405010"/>
                  </a:lnTo>
                  <a:lnTo>
                    <a:pt x="0" y="405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540" t="0" r="-23540" b="-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06615" cy="452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5"/>
                </a:lnSpc>
              </a:pPr>
              <a:r>
                <a:rPr lang="en-US" sz="1650" spc="66">
                  <a:solidFill>
                    <a:srgbClr val="53627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DAHYIfXHAeg</dc:identifier>
  <dcterms:modified xsi:type="dcterms:W3CDTF">2011-08-01T06:04:30Z</dcterms:modified>
  <cp:revision>1</cp:revision>
  <dc:title>Inteligencia-de-Negocios-Muebleria-Albarran.pptx</dc:title>
</cp:coreProperties>
</file>